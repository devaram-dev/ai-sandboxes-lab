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2194560" cy="411480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AI Concepts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1" i="0">
                <a:solidFill>
                  <a:srgbClr val="0F172A"/>
                </a:solidFill>
                <a:latin typeface="Calibri"/>
              </a:rPr>
              <a:t>From Plain English to Live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1">
                <a:solidFill>
                  <a:srgbClr val="475569"/>
                </a:solidFill>
                <a:latin typeface="Calibri"/>
              </a:rPr>
              <a:t>An AI pipeline that turns natural-language requests into rendered charts —</a:t>
            </a:r>
          </a:p>
          <a:p>
            <a:pPr algn="ctr">
              <a:lnSpc>
                <a:spcPct val="130000"/>
              </a:lnSpc>
            </a:pPr>
            <a:r>
              <a:rPr sz="1700" b="0" i="1">
                <a:solidFill>
                  <a:srgbClr val="475569"/>
                </a:solidFill>
                <a:latin typeface="Calibri"/>
              </a:rPr>
              <a:t>with the AI-generated code running safely in a cloud sandbox, never on our laptop.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87" y="384048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2287" y="3840480"/>
            <a:ext cx="2103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1E40AF"/>
                </a:solidFill>
                <a:latin typeface="Calibri"/>
              </a:rPr>
              <a:t>👤  </a:t>
            </a:r>
            <a:r>
              <a:rPr sz="1400" b="1" i="0">
                <a:solidFill>
                  <a:srgbClr val="1E40AF"/>
                </a:solidFill>
                <a:latin typeface="Calibri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93695.5" y="4229100.0"/>
            <a:ext cx="146304.0" cy="0.0"/>
          </a:xfrm>
          <a:prstGeom prst="bentConnector3">
            <a:avLst/>
          </a:prstGeom>
          <a:ln w="28575">
            <a:solidFill>
              <a:srgbClr val="065A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58287" y="384048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8287" y="3840480"/>
            <a:ext cx="2103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65A82"/>
                </a:solidFill>
                <a:latin typeface="Calibri"/>
              </a:rPr>
              <a:t>☕  </a:t>
            </a:r>
            <a:r>
              <a:rPr sz="1400" b="1" i="0">
                <a:solidFill>
                  <a:srgbClr val="065A82"/>
                </a:solidFill>
                <a:latin typeface="Calibri"/>
              </a:rPr>
              <a:t>Spring Boot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9695.5" y="4229100.0"/>
            <a:ext cx="146304.0" cy="0.0"/>
          </a:xfrm>
          <a:prstGeom prst="bentConnector3">
            <a:avLst/>
          </a:prstGeom>
          <a:ln w="28575">
            <a:solidFill>
              <a:srgbClr val="065A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44287" y="384048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4287" y="3840480"/>
            <a:ext cx="2103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92400E"/>
                </a:solidFill>
                <a:latin typeface="Calibri"/>
              </a:rPr>
              <a:t>🦙  </a:t>
            </a:r>
            <a:r>
              <a:rPr sz="1400" b="1" i="0">
                <a:solidFill>
                  <a:srgbClr val="92400E"/>
                </a:solidFill>
                <a:latin typeface="Calibri"/>
              </a:rPr>
              <a:t>Ollama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65695.5" y="4229100.0"/>
            <a:ext cx="146304.0" cy="0.0"/>
          </a:xfrm>
          <a:prstGeom prst="bentConnector3">
            <a:avLst/>
          </a:prstGeom>
          <a:ln w="28575">
            <a:solidFill>
              <a:srgbClr val="065A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30287" y="384048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0287" y="3840480"/>
            <a:ext cx="2103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65F46"/>
                </a:solidFill>
                <a:latin typeface="Calibri"/>
              </a:rPr>
              <a:t>🐍  </a:t>
            </a:r>
            <a:r>
              <a:rPr sz="1400" b="1" i="0">
                <a:solidFill>
                  <a:srgbClr val="065F46"/>
                </a:solidFill>
                <a:latin typeface="Calibri"/>
              </a:rPr>
              <a:t>E2B Sandbox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51695.5" y="4229100.0"/>
            <a:ext cx="146304.0" cy="0.0"/>
          </a:xfrm>
          <a:prstGeom prst="bentConnector3">
            <a:avLst/>
          </a:prstGeom>
          <a:ln w="28575">
            <a:solidFill>
              <a:srgbClr val="065A82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16287" y="3840480"/>
            <a:ext cx="2103120" cy="77724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6287" y="3840480"/>
            <a:ext cx="21031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6D28D9"/>
                </a:solidFill>
                <a:latin typeface="Calibri"/>
              </a:rPr>
              <a:t>📊  </a:t>
            </a:r>
            <a:r>
              <a:rPr sz="1400" b="1" i="0">
                <a:solidFill>
                  <a:srgbClr val="6D28D9"/>
                </a:solidFill>
                <a:latin typeface="Calibri"/>
              </a:rPr>
              <a:t>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287" y="46908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types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8287" y="46908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orchestrates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4287" y="46908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generates 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0287" y="46908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runs safely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6287" y="4690872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in 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The Pain: AI-Generated Code is Powerful but Risky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Letting AI write code is easy. Letting it RUN code where it can break things is the hard part.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5394960" cy="4160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🔥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NAIVE — just run AI code locally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" y="228142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E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" y="228142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224028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rm -rf important_data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4028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91B1B"/>
                </a:solidFill>
                <a:latin typeface="Calibri"/>
              </a:rPr>
              <a:t>→  deletes your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" y="292150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E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" y="292150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28803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urllib.request → calls home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8036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91B1B"/>
                </a:solidFill>
                <a:latin typeface="Calibri"/>
              </a:rPr>
              <a:t>→  leaks data externally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" y="356158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E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" y="356158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52044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while True: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204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91B1B"/>
                </a:solidFill>
                <a:latin typeface="Calibri"/>
              </a:rPr>
              <a:t>→  eats your CPU forever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" y="4201667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E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" y="4201667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⚠️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4160519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open('/etc/passwd')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160519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91B1B"/>
                </a:solidFill>
                <a:latin typeface="Calibri"/>
              </a:rPr>
              <a:t>→  reads your secrets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" y="48417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FEC5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" y="48417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80060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import os; os.environ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0060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91B1B"/>
                </a:solidFill>
                <a:latin typeface="Calibri"/>
              </a:rPr>
              <a:t>→  steals your env vars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554480"/>
            <a:ext cx="5394960" cy="41605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1554480"/>
            <a:ext cx="5394960" cy="50292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554480"/>
            <a:ext cx="53949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🛡️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SANDBOXED — runs in isolated cloud VM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96228" y="228142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6228" y="228142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2240280"/>
            <a:ext cx="4526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Isolated Linux VM (per request)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96228" y="292150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8" y="292150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2880360"/>
            <a:ext cx="4526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No access to your filesystem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96228" y="356158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6228" y="356158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1152" y="3520440"/>
            <a:ext cx="4526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No access to internal network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96228" y="4201667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96228" y="4201667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4160519"/>
            <a:ext cx="4526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No persistence — destroyed after 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96228" y="48417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96228" y="48417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31152" y="4800600"/>
            <a:ext cx="4526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Python + matplotlib pre-installed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870448"/>
            <a:ext cx="11183112" cy="502920"/>
          </a:xfrm>
          <a:prstGeom prst="roundRect">
            <a:avLst>
              <a:gd name="adj" fmla="val 4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870448"/>
            <a:ext cx="11183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02C39A"/>
                </a:solidFill>
                <a:latin typeface="Calibri"/>
              </a:rPr>
              <a:t>🔒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AI code generation needs AI code execution — and execution needs isolation.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is an AI Sandbox? (in 30 seconds)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A throwaway cloud VM where AI-generated code runs in isolation — like Docker, but spun up per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6587" y="18516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6587" y="18516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Calibri"/>
              </a:rPr>
              <a:t>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9527" y="187452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F46"/>
                </a:solidFill>
                <a:latin typeface="Calibri"/>
              </a:rPr>
              <a:t>The analogy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155" y="272034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155" y="272034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4079" y="2697480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Docker container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079" y="3044952"/>
            <a:ext cx="2788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Isolated env, cleaned up after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9155" y="36804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155" y="368046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079" y="3657600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AI Sandbox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4079" y="4005072"/>
            <a:ext cx="2788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Same idea — per AI request, in the 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9155" y="464058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155" y="464058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079" y="4617720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Your laptop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4079" y="4965192"/>
            <a:ext cx="27889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Stays clean. Untrusted code never runs here.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7047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72787" y="18516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2787" y="18516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Calibri"/>
              </a:rPr>
              <a:t>⏱️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5727" y="187452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D28D9"/>
                </a:solidFill>
                <a:latin typeface="Calibri"/>
              </a:rPr>
              <a:t>Per-request lifecycle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9071" y="264261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D8D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9071" y="2642616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1️⃣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2847" y="2651760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AI generates Python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9071" y="320954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D8D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9071" y="3209544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2️⃣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2847" y="3218688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Sandbox spins up (~5 sec)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59071" y="377647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D8D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9071" y="3776472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3️⃣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2847" y="3785616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Code runs in isolation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9071" y="434340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D8D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9071" y="4343400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4️⃣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2847" y="4352544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PNG result returned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59071" y="491032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D8D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9071" y="4910328"/>
            <a:ext cx="38404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Calibri"/>
              </a:rPr>
              <a:t>5️⃣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2847" y="4919472"/>
            <a:ext cx="283464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Sandbox destroyed → clean slate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3247" y="169164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58987" y="18516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8987" y="185166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0F172A"/>
                </a:solidFill>
                <a:latin typeface="Calibri"/>
              </a:rPr>
              <a:t>☁️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1927" y="187452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Calibri"/>
              </a:rPr>
              <a:t>What we use — E2B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31555" y="272034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C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1555" y="272034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6479" y="2697480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E2B Cloud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6479" y="3044952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Official Python SDK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31555" y="3470148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C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1555" y="3470148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6479" y="3447288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Free tier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6479" y="3794760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100 hrs / month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31555" y="4219956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C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1555" y="4219956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6479" y="4197096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Template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6479" y="4544568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code-interpreter-v1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31555" y="4969764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C5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1555" y="4969764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6479" y="4946904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Pre-installed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6479" y="5294376"/>
            <a:ext cx="278892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Python + matplotlib + pandas + numpy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5943600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Untrusted code goes to the cloud. Your laptop stays clean.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Our Demo: Charts from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Type a request → AI writes Python → cloud sandbox runs it → chart appears in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486400" cy="3749039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" y="182422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182422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40AF"/>
                </a:solidFill>
                <a:latin typeface="Calibri"/>
              </a:rPr>
              <a:t>React UI — what the user sees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40"/>
            <a:ext cx="48463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66344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65A82"/>
                </a:solidFill>
                <a:latin typeface="Calibri"/>
              </a:rPr>
              <a:t>"Plot bar chart from Jan 2026 to March 2026"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20" y="3383280"/>
            <a:ext cx="2560320" cy="457200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20" y="3383280"/>
            <a:ext cx="25603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🚀  Generate Chart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" y="4014216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014216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23360"/>
            <a:ext cx="4663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Loading... (10-30 sec)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" y="4471416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" y="4471416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480560"/>
            <a:ext cx="4663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Bar chart appears in browser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" y="4928616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4928616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937760"/>
            <a:ext cx="4663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Try again → fresh sandbox each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691640"/>
            <a:ext cx="5486400" cy="3749039"/>
          </a:xfrm>
          <a:prstGeom prst="roundRect">
            <a:avLst>
              <a:gd name="adj" fmla="val 5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9380" y="182422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9380" y="182422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828800"/>
            <a:ext cx="4480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Calibri"/>
              </a:rPr>
              <a:t>Pipeline (per request — 7 steps)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51092" y="253746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253746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256032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DateRangeParser: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Jan 2026 → March 2026 → [Jan, Feb, Mar]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51092" y="294894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1092" y="294894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5432" y="297180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SalesDataGenerator: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random demo values per period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1092" y="336042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1092" y="336042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338328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OllamaClient: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qwen2.5-coder generates Python code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51092" y="377190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1092" y="37719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5432" y="379476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CodeExtractor: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strips markdown fences from LLM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51092" y="418338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1092" y="418338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85432" y="420624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E2BSandboxClient: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spawns e2b_sandbox_client.py subprocess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51092" y="459486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1092" y="459486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☁️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461772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E2B cloud sandbox: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executes the Python, captures PNG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51092" y="5006340"/>
            <a:ext cx="320040" cy="320040"/>
          </a:xfrm>
          <a:prstGeom prst="roundRect">
            <a:avLst>
              <a:gd name="adj" fmla="val 30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1092" y="500634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85432" y="5029200"/>
            <a:ext cx="4709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Spring Boot: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returns PNG bytes → React renders chart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577840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577840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C39A"/>
                </a:solidFill>
                <a:latin typeface="Calibri"/>
              </a:rPr>
              <a:t>💬  Try: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"Plot bar chart Jan-Mar 2026"  /  "Q1 to Q4 2026"  /  "Jan to Jun 2026"  —  each generates a fresh chart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108192"/>
            <a:ext cx="1118311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75569"/>
                </a:solidFill>
                <a:latin typeface="Calibri"/>
              </a:rPr>
              <a:t>No code ever runs locally. Java orchestrates. Python + E2B execute. React renders.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Tech Stack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Three local processes + one cloud sandbox. Standard tools, glued with a small Python wrapper.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6275" y="1691640"/>
            <a:ext cx="2743200" cy="3977639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6275" y="1691640"/>
            <a:ext cx="2743200" cy="5943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0867" y="1764792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867" y="1764792"/>
            <a:ext cx="43891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6083" y="1746504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40A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443" y="246888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Java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7443" y="306324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Spring Boot 3.2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443" y="365760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Spring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755" y="393192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REST + CORS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443" y="425196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Spring RestClient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755" y="452628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calls 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443" y="484632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E40AF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ProcessBuilder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755" y="512064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spawns Python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4923" y="1691640"/>
            <a:ext cx="2743200" cy="3977639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74923" y="1691640"/>
            <a:ext cx="2743200" cy="59436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39515" y="1764792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9515" y="1764792"/>
            <a:ext cx="43891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4731" y="1746504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92400E"/>
                </a:solidFill>
                <a:latin typeface="Calibri"/>
              </a:rPr>
              <a:t>LLM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6091" y="246888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Ollama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6403" y="274320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localhost:11434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6091" y="306324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qwen2.5-coder:1.5b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6403" y="333756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code-specialized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6091" y="365760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~2 GB 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6403" y="393192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5-15s on CPU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6091" y="425196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400E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No cloud calls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6403" y="452628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fully local + private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3571" y="1691640"/>
            <a:ext cx="2743200" cy="3977639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3571" y="1691640"/>
            <a:ext cx="2743200" cy="59436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38163" y="1764792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8163" y="1764792"/>
            <a:ext cx="43891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3379" y="1746504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F46"/>
                </a:solidFill>
                <a:latin typeface="Calibri"/>
              </a:rPr>
              <a:t>Sandbox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4739" y="246888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e2b_sandbox_client.py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5051" y="274320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~30 lines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4739" y="306324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E2B Python SDK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5051" y="333756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e2b-code-interpreter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74739" y="365760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Free tier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5051" y="393192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100 hrs / month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4739" y="425196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F46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Template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5051" y="452628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code-interpreter-v1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2219" y="1691640"/>
            <a:ext cx="2743200" cy="3977639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72219" y="1691640"/>
            <a:ext cx="2743200" cy="59436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236811" y="1764792"/>
            <a:ext cx="43891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6811" y="1764792"/>
            <a:ext cx="438912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⚛️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2027" y="1746504"/>
            <a:ext cx="18745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D28D9"/>
                </a:solidFill>
                <a:latin typeface="Calibri"/>
              </a:rPr>
              <a:t>Frontend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73387" y="246888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React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3699" y="274320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Vite dev server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73387" y="306324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Fetch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83699" y="333756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POST /ask → image/png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3387" y="365760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Blob URL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83699" y="393192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inline chart display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73387" y="4251960"/>
            <a:ext cx="2340864" cy="53035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●  </a:t>
            </a:r>
            <a:r>
              <a:rPr sz="1200" b="1" i="0">
                <a:solidFill>
                  <a:srgbClr val="0F172A"/>
                </a:solidFill>
                <a:latin typeface="Calibri"/>
              </a:rPr>
              <a:t>Single page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83699" y="4526280"/>
            <a:ext cx="2148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input + button + chart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925312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925312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Python is here for one reason: E2B's official SDK is Python-only. Java handles everything else.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High-Level Architecture: Three Processes + One Cloud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Java orchestrates. Python delegates. E2B isolates. React renders.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9847" y="1600200"/>
            <a:ext cx="4572000" cy="6858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9847" y="1600200"/>
            <a:ext cx="45720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E40AF"/>
                </a:solidFill>
                <a:latin typeface="Calibri"/>
              </a:rPr>
              <a:t>💻  React UI</a:t>
            </a:r>
            <a:r>
              <a:rPr sz="1300" b="0" i="0">
                <a:solidFill>
                  <a:srgbClr val="0F172A"/>
                </a:solidFill>
                <a:latin typeface="Calibri"/>
              </a:rPr>
              <a:t>  —  types prompt, clicks Generate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5847.5" y="2286000"/>
            <a:ext cx="0.0" cy="256032"/>
          </a:xfrm>
          <a:prstGeom prst="bentConnector3">
            <a:avLst/>
          </a:prstGeom>
          <a:ln w="25400">
            <a:solidFill>
              <a:srgbClr val="1E40A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49927" y="2304288"/>
            <a:ext cx="32918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HTTP POST /ask  { prompt: '...' }  →  image/png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047" y="2578608"/>
            <a:ext cx="10515600" cy="233172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587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0927" y="2633472"/>
            <a:ext cx="27432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2400E"/>
                </a:solidFill>
                <a:latin typeface="Calibri"/>
              </a:rPr>
              <a:t>☕  Spring Boot JVM  :8080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3011" y="3035808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93595" y="327355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3595" y="3273552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5931" y="3035808"/>
            <a:ext cx="1051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DateRange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40AF"/>
                </a:solidFill>
                <a:latin typeface="Calibri"/>
              </a:rPr>
              <a:t>Parser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11499.5" y="3447288.0"/>
            <a:ext cx="164592.0" cy="0.0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94379" y="3035808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94963" y="327355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4963" y="3273552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7299" y="3035808"/>
            <a:ext cx="1051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Sales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6D28D9"/>
                </a:solidFill>
                <a:latin typeface="Calibri"/>
              </a:rPr>
              <a:t>Generator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12867.5" y="3447288.0"/>
            <a:ext cx="164592.0" cy="0.0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95747" y="3035808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96331" y="327355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6331" y="3273552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98667" y="3035808"/>
            <a:ext cx="1051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Ollama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Client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14235.5" y="3447288.0"/>
            <a:ext cx="164592.0" cy="0.0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97115" y="3035808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97699" y="327355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7699" y="3273552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0035" y="3035808"/>
            <a:ext cx="1051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65F46"/>
                </a:solidFill>
                <a:latin typeface="Calibri"/>
              </a:rPr>
              <a:t>Code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65F46"/>
                </a:solidFill>
                <a:latin typeface="Calibri"/>
              </a:rPr>
              <a:t>Extractor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15603.5" y="3447288.0"/>
            <a:ext cx="164592.0" cy="0.0"/>
          </a:xfrm>
          <a:prstGeom prst="bentConnector3">
            <a:avLst/>
          </a:prstGeom>
          <a:ln w="19050">
            <a:solidFill>
              <a:srgbClr val="0F17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898483" y="3035808"/>
            <a:ext cx="1600200" cy="822960"/>
          </a:xfrm>
          <a:prstGeom prst="roundRect">
            <a:avLst>
              <a:gd name="adj" fmla="val 15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99067" y="327355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99067" y="3273552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1403" y="3035808"/>
            <a:ext cx="10515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E2BSandbox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65A82"/>
                </a:solidFill>
                <a:latin typeface="Calibri"/>
              </a:rPr>
              <a:t>Client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04307" y="4041648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9525">
            <a:solidFill>
              <a:srgbClr val="924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95747" y="4041648"/>
            <a:ext cx="1600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92400E"/>
                </a:solidFill>
                <a:latin typeface="Calibri"/>
              </a:rPr>
              <a:t>🦙  Ollama :11434  </a:t>
            </a:r>
            <a:r>
              <a:rPr sz="1000" b="0" i="0">
                <a:solidFill>
                  <a:srgbClr val="0F172A"/>
                </a:solidFill>
                <a:latin typeface="Calibri"/>
              </a:rPr>
              <a:t>qwen2.5-coder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5847.5" y="3858768"/>
            <a:ext cx="0.0" cy="164592"/>
          </a:xfrm>
          <a:prstGeom prst="bentConnector3">
            <a:avLst/>
          </a:prstGeom>
          <a:ln w="15875">
            <a:solidFill>
              <a:srgbClr val="92400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07043" y="4041648"/>
            <a:ext cx="1783080" cy="548640"/>
          </a:xfrm>
          <a:prstGeom prst="roundRect">
            <a:avLst>
              <a:gd name="adj" fmla="val 30000"/>
            </a:avLst>
          </a:prstGeom>
          <a:solidFill>
            <a:srgbClr val="ECFDF5"/>
          </a:solidFill>
          <a:ln w="9525">
            <a:solidFill>
              <a:srgbClr val="065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7043" y="4041648"/>
            <a:ext cx="1783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65F46"/>
                </a:solidFill>
                <a:latin typeface="Calibri"/>
              </a:rPr>
              <a:t>🐍  e2b_sandbox_client.py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98583.5" y="3858768"/>
            <a:ext cx="0.0" cy="164592"/>
          </a:xfrm>
          <a:prstGeom prst="bentConnector3">
            <a:avLst/>
          </a:prstGeom>
          <a:ln w="15875">
            <a:solidFill>
              <a:srgbClr val="065F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698583.5" y="4910328"/>
            <a:ext cx="0.0" cy="256032"/>
          </a:xfrm>
          <a:prstGeom prst="bentConnector3">
            <a:avLst/>
          </a:prstGeom>
          <a:ln w="25400">
            <a:solidFill>
              <a:srgbClr val="065F4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892643" y="4928616"/>
            <a:ext cx="29260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65F46"/>
                </a:solidFill>
                <a:latin typeface="Calibri"/>
              </a:rPr>
              <a:t>HTTPS via E2B SDK  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83983" y="5202936"/>
            <a:ext cx="5029200" cy="658368"/>
          </a:xfrm>
          <a:prstGeom prst="roundRect">
            <a:avLst>
              <a:gd name="adj" fmla="val 15000"/>
            </a:avLst>
          </a:prstGeom>
          <a:solidFill>
            <a:srgbClr val="E0F2F7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3983" y="5202936"/>
            <a:ext cx="5029200" cy="6583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</a:rPr>
              <a:t>☁️  E2B Cloud 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·  Linux VM per request  ·  plt.bar() → PNG  ·  auto-destroyed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971032"/>
            <a:ext cx="11183112" cy="457200"/>
          </a:xfrm>
          <a:prstGeom prst="roundRect">
            <a:avLst>
              <a:gd name="adj" fmla="val 4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971032"/>
            <a:ext cx="1118311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2C39A"/>
                </a:solidFill>
                <a:latin typeface="Calibri"/>
              </a:rPr>
              <a:t>🔑  Trust: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Java ✓  Python wrapper ✓  </a:t>
            </a:r>
            <a:r>
              <a:rPr sz="1200" b="1" i="0">
                <a:solidFill>
                  <a:srgbClr val="FFC5C5"/>
                </a:solidFill>
                <a:latin typeface="Calibri"/>
              </a:rPr>
              <a:t>AI-generated Python ❌ → E2B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Logging: Watching a Polyglot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Three processes, three log streams, one request — how to follow the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727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3727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F46"/>
                </a:solidFill>
                <a:latin typeface="Calibri"/>
              </a:rPr>
              <a:t>Java backend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447" y="260604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OllamaClient initialized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447" y="297180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build marker: EXCHANGE_RAW_BYTES_v2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333756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E2BSandboxClient initialized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370332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75569"/>
                </a:solidFill>
                <a:latin typeface="Consolas"/>
              </a:rPr>
              <a:t>  build marker: PYTHON_WRAPPER_v3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447" y="406908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E2BSandboxClient — spawning subprocess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43484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E2BSandboxClient — chart: 16916 bytes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7047" y="169164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49927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927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4287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6D28D9"/>
                </a:solidFill>
                <a:latin typeface="Calibri"/>
              </a:rPr>
              <a:t>Python subprocess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260604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Captured by ProcessBuilder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47" y="297180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(Java merges Python stdout+stderr)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333756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370332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[e2b_runner] Code length: 412 chars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406908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[e2b_runner] Sandbox ready...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5647" y="443484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[e2b_runner] Chart saved (16916 bytes)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3247" y="169164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6127" y="1828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6127" y="18288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☁️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0487" y="1828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Calibri"/>
              </a:rPr>
              <a:t>E2B cloud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847" y="260604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e2b.dev/dashboard — per-sandbox: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1847" y="297180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  Sandbox lifecycle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847" y="333756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  Code execution stdout/stderr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1847" y="370332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  Created/destroyed timestamps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1847" y="406908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Useful when sandbox crashes 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1847" y="4434840"/>
            <a:ext cx="32004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quota/rate-limit hit.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394960"/>
            <a:ext cx="11183112" cy="96012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468112"/>
            <a:ext cx="10817352" cy="8412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C39A"/>
                </a:solidFill>
                <a:latin typeface="Calibri"/>
              </a:rPr>
              <a:t>🛡️  Build markers (verify NEW code is running):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log.info("OllamaClient initialized — build marker: EXCHANGE_RAW_BYTES_v2 @ {}", Instant.now())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onsolas"/>
              </a:rPr>
              <a:t>log.info("E2BSandboxClient initialized — build marker: PYTHON_WRAPPER_v3, runner='e2b_sandbox_client.py' @ {}")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Broke (Part 1) — Foundation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Real bugs from the build. Each one a teachable production lesson.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320040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Part 1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275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867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867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947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OllamaClient threw: 'content type [application/octet-stream] not supported' — even though Ollama returns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0947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Spring's RestClient.body(Class) checks Content-Type strictly. For some Ollama builds, the header didn't match expectations.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Switched to RestClient.exchange() — read raw bytes, parse manually with ObjectMapper. Bypasses Spring's content negotiation entirely.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When Spring's auto-conversion fights you on content-type, drop one level: get bytes, parse manually.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4187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8779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8779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859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JAR returned 401 Unauthorized from E2B. But $E2B_API_KEY in another terminal showed the correct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8859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The JAR's terminal was opened BEFORE ~/.api_keys was updated. That shell cached the OLD value. JAR inherited the stale env var at startup.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859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Always source ~/.api_keys in the SAME terminal before java -jar. Verify: echo "Last 4: $(echo $E2B_API_KEY | tail -c 5)"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859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Env vars are inherited at process start — never updated again. Change the file? Re-source in every terminal that needs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2099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6691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6691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6771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Ollama timed out after 60 sec. Response never arrived from the LLM.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6771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Used gemma4:e2b (7.2 GB) on CPU. Cold start + slow CPU inference = 60-180 sec per request. Way over our timeout.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6771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Two-part fix: (a) switch to qwen2.5-coder:1.5b (~2 GB, 5-15s on CPU). (b) update application.properties: ollama.model=qwen2.5-coder:1.5b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6771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Match the model to the task. A 1.5B code-specialized model is 5-10x faster than a 7B general LLM for writing matplotlib snippets.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(continued in Part 2 — fighting E2B raw HTTP)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Broke (Part 2) — Fighting E2B Raw 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Three failed attempts to talk to E2B via direct HTTP. Each one taught us something.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320040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Part 2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275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867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867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947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All HTTP probes to E2B sandbox returned 502: 'The sandbox is running but port is not open'. Tried ports 49982 and 49983.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0947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E2B's envd daemon uses a port that varies by version, behind subdomain routing (https://{port}-{sandboxId}.e2b.app), with Connect-RPC — an undocumented binary protocol.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Stopped guessing the port. E2B publishes port details only inside their official SDK responses — not via raw HTTP. This failure led directly to the Python wrapper pivot (Part 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If a vendor's protocol is undocumented and version-fragile, use their official SDK — even if it's in the wrong language. Time spent reverse-engineering is time wasted.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4187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8779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8779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859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POST to E2B's /sandboxes returned HTTP 400: { 'code': 400, 'message': 'templateID missing' 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8859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Initial code created sandboxes with an empty body. E2B requires a templateID field to know which pre-built sandbox image to spin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859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Added the required field: { "templateID": "code-interpreter-v1" }. This template has Python + matplotlib + pandas pre-installed.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859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Required fields don't always surface in error messages until you trigger them. Read the full API contract before assuming defaults exist.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2099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6691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6691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6771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Every E2B request returned 401 'Invalid key format' — even though the key appeared correct visually.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6771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Typo in ~/.api_keys: stored '4dce' instead of actual key ending '24dc'. Transposed digits — subtle enough that visual inspection missed it completely.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6771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Cross-checked against the E2B dashboard (e2b.dev/dashboard/&lt;user&gt;/keys). Corrected the value in ~/.api_keys, re-sourced the shell.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6771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When an API consistently returns auth errors, don't debug the code — verify the credential against the source-of-truth dashboard. Saves hours.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(continued in Part 3 — the Python wrapper pivot)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Broke (Part 3) — The Polyglot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When raw HTTP kept failing, we changed approach entirely.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320040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Part 3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275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867" y="1856232"/>
            <a:ext cx="475488" cy="47548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867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0947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After 3+ failed raw Java HTTP approaches to E2B, progress stalled. Each fix surfaced another protocol issue.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0947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E2B's official SDK is Python/Node only. Java had to reverse-engineer Connect-RPC, port discovery, file upload, and sandbox lifecycle — all undocumented.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0947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Architectural pivot: keep Java orchestrating, delegate E2B to a tiny Python wrapper via ProcessBuilder. ~30 lines of Python replaced ~200 lines of fragile Java HTTP.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0947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Polyglot subprocess delegation is a real production pattern. Bridge to the right language's SDK rather than rewriting it in your stack.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4187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08779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8779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8859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First Python wrapper run failed: TypeError: SandboxBase.__init__() missing 5 required positional arguments: 'sandbox_id', 'envd_version',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8859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Wrote 'with Sandbox() as sandbox:' based on older docs. SDK v2.6.2 changed the API — Sandbox() now needs an existing sandbox's details. To CREATE one: Sandbox.create().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8859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One-line fix: 'with Sandbox.create() as sandbox:'. Discovered via: python3 -c "from e2b_code_interpreter import Sandbox; print(dir(Sandbox))"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859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SDK API drift is real, even between minor versions. When a constructor errors, list the class's methods — a .create() or .connect() factory is usually the new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2099" y="1691640"/>
            <a:ext cx="3703320" cy="420624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6691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6691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6771" y="1856232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Python wrapper failed silently. Java got exit code 1 but no useful error — couldn't see what went wrong inside the subprocess.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6771" y="2825496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Default ProcessBuilder separates stdout and stderr. We read only stdout. Python tracebacks go to stderr — which Java was silently discarding.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6771" y="3794760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Added pb.redirectErrorStream(true) so Python's stderr merges into Java's input stream. Now all Python output — including tracebacks — appears in Spring Boot's logs.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6771" y="4764024"/>
            <a:ext cx="2743200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When spawning subprocesses, ALWAYS capture stderr. Python tracebacks, SDK warnings, and debug info all go there. Without redirectErrorStream(true), you're debugging blind.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(continued in Part 4 — final polish)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What Broke (Part 4) — Final Polish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Two small but real issues that surfaced after the core pipeline worked.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1005840" cy="347472"/>
          </a:xfrm>
          <a:prstGeom prst="roundRect">
            <a:avLst>
              <a:gd name="adj" fmla="val 30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0" y="320040"/>
            <a:ext cx="100584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45309"/>
                </a:solidFill>
                <a:latin typeface="Calibri"/>
              </a:rPr>
              <a:t>Part 4 /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856232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pip install e2b-code-interpreter --break-system-packages returned: 'no such option: --break-system-packages'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802636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Older pip (22.x) doesn't support the flag. The flag is for newer Ubuntu/Debian Python that marks system Python as 'externally managed'. Our pip version didn't need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749040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Simply dropped the flag: pip install e2b-code-interpreter. Worked immediately. Older pip doesn't enforce the 'externally managed'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4695444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Commands from blog posts often include flags for specific environments. When a flag errors, try without it — your environment may not need that escape hatch.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69164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1856232"/>
            <a:ext cx="475488" cy="47548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56232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#11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856232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91B1B"/>
                </a:solidFill>
                <a:latin typeface="Calibri"/>
              </a:rPr>
              <a:t>🐛 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Symptom: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Python file named e2b_runner.py but Java class was E2BSandboxClient.java. New contributors couldn't tell which Python file pairs with which Java class.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02636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2400E"/>
                </a:solidFill>
                <a:latin typeface="Calibri"/>
              </a:rPr>
              <a:t>🔧  </a:t>
            </a:r>
            <a:r>
              <a:rPr sz="1100" b="1" i="0">
                <a:solidFill>
                  <a:srgbClr val="92400E"/>
                </a:solidFill>
                <a:latin typeface="Calibri"/>
              </a:rPr>
              <a:t>Cause: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'e2b_runner.py' was chosen for brevity during rapid development. It describes WHAT the script does, not WHAT it is architecturally (the E2B client side).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749040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40AF"/>
                </a:solidFill>
                <a:latin typeface="Calibri"/>
              </a:rPr>
              <a:t>🛠️  </a:t>
            </a:r>
            <a:r>
              <a:rPr sz="1100" b="1" i="0">
                <a:solidFill>
                  <a:srgbClr val="1E40AF"/>
                </a:solidFill>
                <a:latin typeface="Calibri"/>
              </a:rPr>
              <a:t>Fix: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Renamed to e2b_sandbox_client.py (Python snake_case paired with E2BSandboxClient.java). Updated application.properties: e2b.runner-script=e2b_sandbox_client.py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4695444"/>
            <a:ext cx="2697480" cy="9464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065F46"/>
                </a:solidFill>
                <a:latin typeface="Calibri"/>
              </a:rPr>
              <a:t>💡  </a:t>
            </a:r>
            <a:r>
              <a:rPr sz="1100" b="1" i="0">
                <a:solidFill>
                  <a:srgbClr val="065F46"/>
                </a:solidFill>
                <a:latin typeface="Calibri"/>
              </a:rPr>
              <a:t>Lesson: </a:t>
            </a:r>
            <a:r>
              <a:rPr sz="1100" b="0" i="0">
                <a:solidFill>
                  <a:srgbClr val="0F172A"/>
                </a:solidFill>
                <a:latin typeface="Calibri"/>
              </a:rPr>
              <a:t>In polyglot projects, name files across languages to signal their pairing — even with different casing conventions. e2b_sandbox_client.py and E2BSandboxClient.java are clearly paired.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1691640"/>
            <a:ext cx="3468319" cy="4114800"/>
          </a:xfrm>
          <a:prstGeom prst="roundRect">
            <a:avLst>
              <a:gd name="adj" fmla="val 5000"/>
            </a:avLst>
          </a:prstGeom>
          <a:solidFill>
            <a:srgbClr val="E0F2F7"/>
          </a:solidFill>
          <a:ln w="1270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9912" y="1837944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1837944"/>
            <a:ext cx="4754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1828800"/>
            <a:ext cx="2508199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Calibri"/>
              </a:rPr>
              <a:t>Debugging principles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4192" y="2587752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587752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2560320"/>
            <a:ext cx="269107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Isolate layers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2880360"/>
            <a:ext cx="2691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Test Ollama, JAR, Python, E2B separately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3246120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246120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2248" y="3218688"/>
            <a:ext cx="269107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Read errors literally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3538728"/>
            <a:ext cx="2691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Verify with curl, echo $VAR, dir(SDK)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94192" y="3904488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904488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3877056"/>
            <a:ext cx="269107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Start simple, add complexity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42248" y="4197096"/>
            <a:ext cx="2691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Get qwen + wrapper working first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94192" y="4562856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94192" y="4562856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4535424"/>
            <a:ext cx="269107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Every fix surfaces the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42248" y="4855464"/>
            <a:ext cx="2691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Normal, not failure. Iterate.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94192" y="5221224"/>
            <a:ext cx="347472" cy="34747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94192" y="5221224"/>
            <a:ext cx="347472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0F172A"/>
                </a:solidFill>
                <a:latin typeface="Calibri"/>
              </a:rPr>
              <a:t>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2248" y="5193792"/>
            <a:ext cx="2691079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alibri"/>
              </a:rPr>
              <a:t>Use official SDKs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5513832"/>
            <a:ext cx="2691079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Bridge to right language, don't rewrite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47472"/>
            <a:ext cx="1097280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F172A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144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What this work means — and why AI code execution is the pattern to understand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" y="169164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867" y="183337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867" y="183337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0F172A"/>
                </a:solidFill>
                <a:latin typeface="Calibri"/>
              </a:rP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0967" y="1856232"/>
            <a:ext cx="2560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F46"/>
                </a:solidFill>
                <a:latin typeface="Calibri"/>
              </a:rPr>
              <a:t>AI code execution needs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" y="2651760"/>
            <a:ext cx="3145536" cy="15727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Writing code is only half the problem. Running it safely — in a cloud sandbox, per request, auto-destroyed — is the real engineering challenge. This is the 'Code Interpreter' pattern behind ChatGPT and Claude.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7047" y="169164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27067" y="183337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7067" y="183337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0F172A"/>
                </a:solidFill>
                <a:latin typeface="Calibri"/>
              </a:rP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7167" y="1856232"/>
            <a:ext cx="2560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E40AF"/>
                </a:solidFill>
                <a:latin typeface="Calibri"/>
              </a:rPr>
              <a:t>Polyglot is fine when it's the right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3079" y="2651760"/>
            <a:ext cx="3145536" cy="15727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Java orchestrates what it's good at. Python handles what it's good at (E2B SDK). ~30 lines of Python replaced ~200 lines of fragile Java HTTP. Language choice should follow library availability, not pride.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247" y="1691640"/>
            <a:ext cx="3657600" cy="265176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13267" y="183337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267" y="1833372"/>
            <a:ext cx="5943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>
                <a:solidFill>
                  <a:srgbClr val="0F172A"/>
                </a:solidFill>
                <a:latin typeface="Calibri"/>
              </a:rPr>
              <a:t>🛡️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3367" y="1856232"/>
            <a:ext cx="256032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6D28D9"/>
                </a:solidFill>
                <a:latin typeface="Calibri"/>
              </a:rPr>
              <a:t>Local LLM + Cloud Sandbox = complete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9279" y="2651760"/>
            <a:ext cx="3145536" cy="15727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72A"/>
                </a:solidFill>
                <a:latin typeface="Calibri"/>
              </a:rPr>
              <a:t>Ollama (qwen2.5-coder) on your laptop: free, private, offline-capable. E2B cloud sandbox: isolated, disposable, pre-installed Python. Together: full AI code interpreter with zero cloud LLM costs.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526280"/>
            <a:ext cx="11183112" cy="1417320"/>
          </a:xfrm>
          <a:prstGeom prst="roundRect">
            <a:avLst>
              <a:gd name="adj" fmla="val 4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" y="464058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" y="464058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0F172A"/>
                </a:solidFill>
                <a:latin typeface="Calibri"/>
              </a:rPr>
              <a:t>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636008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Calibri"/>
              </a:rPr>
              <a:t>What's next on my AI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591" y="5212080"/>
            <a:ext cx="2103120" cy="475488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591" y="5212080"/>
            <a:ext cx="210312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1" i="0">
                <a:solidFill>
                  <a:srgbClr val="065F46"/>
                </a:solidFill>
                <a:latin typeface="Calibri"/>
              </a:rPr>
              <a:t>MCP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1439" y="5212080"/>
            <a:ext cx="2103120" cy="475488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1439" y="5212080"/>
            <a:ext cx="210312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F46"/>
                </a:solidFill>
                <a:latin typeface="Calibri"/>
              </a:rPr>
              <a:t>✓  </a:t>
            </a:r>
            <a:r>
              <a:rPr sz="1300" b="1" i="0">
                <a:solidFill>
                  <a:srgbClr val="065F46"/>
                </a:solidFill>
                <a:latin typeface="Calibri"/>
              </a:rPr>
              <a:t>AI Sandboxes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4287" y="5212080"/>
            <a:ext cx="2103120" cy="475488"/>
          </a:xfrm>
          <a:prstGeom prst="roundRect">
            <a:avLst>
              <a:gd name="adj" fmla="val 4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4287" y="5212080"/>
            <a:ext cx="210312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6D28D9"/>
                </a:solidFill>
                <a:latin typeface="Calibri"/>
              </a:rPr>
              <a:t>→  </a:t>
            </a:r>
            <a:r>
              <a:rPr sz="1300" b="1" i="0">
                <a:solidFill>
                  <a:srgbClr val="6D28D9"/>
                </a:solidFill>
                <a:latin typeface="Calibri"/>
              </a:rPr>
              <a:t>RAG with Spring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57135" y="5212080"/>
            <a:ext cx="2103120" cy="475488"/>
          </a:xfrm>
          <a:prstGeom prst="roundRect">
            <a:avLst>
              <a:gd name="adj" fmla="val 40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57135" y="5212080"/>
            <a:ext cx="210312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Calibri"/>
              </a:rPr>
              <a:t>→  </a:t>
            </a:r>
            <a:r>
              <a:rPr sz="1300" b="1" i="0">
                <a:solidFill>
                  <a:srgbClr val="475569"/>
                </a:solidFill>
                <a:latin typeface="Calibri"/>
              </a:rPr>
              <a:t>Spring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9983" y="5212080"/>
            <a:ext cx="2103120" cy="475488"/>
          </a:xfrm>
          <a:prstGeom prst="roundRect">
            <a:avLst>
              <a:gd name="adj" fmla="val 40000"/>
            </a:avLst>
          </a:prstGeom>
          <a:solidFill>
            <a:srgbClr val="F0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9983" y="5212080"/>
            <a:ext cx="2103120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475569"/>
                </a:solidFill>
                <a:latin typeface="Calibri"/>
              </a:rPr>
              <a:t>→  </a:t>
            </a:r>
            <a:r>
              <a:rPr sz="1300" b="1" i="0">
                <a:solidFill>
                  <a:srgbClr val="475569"/>
                </a:solidFill>
                <a:latin typeface="Calibri"/>
              </a:rPr>
              <a:t>Function Calling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53328"/>
            <a:ext cx="11274552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1">
                <a:solidFill>
                  <a:srgbClr val="065A82"/>
                </a:solidFill>
                <a:latin typeface="Calibri"/>
              </a:rPr>
              <a:t>Questions? Or want to see a chart generated live right now?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Botree  |  AI Concepts Learning Series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